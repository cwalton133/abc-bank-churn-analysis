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ABC Bank Customer Churn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Executive Summary | Data-Driven Retention Strategy</a:t>
            </a:r>
          </a:p>
          <a:p/>
          <a:p>
            <a:r>
              <a:t>Charles Walton – Data Analyst Consultant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Identify drivers of customer churn across demographics, products, and regions</a:t>
            </a:r>
          </a:p>
          <a:p>
            <a:pPr lvl="1"/>
            <a:r>
              <a:t>Quantify churn risk and prioritize high-impact retention opportunities</a:t>
            </a:r>
          </a:p>
          <a:p>
            <a:pPr lvl="1"/>
            <a:r>
              <a:t>Provide executive-ready recommendations to improve customer lifetime value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 1 – Demographics &amp; Geography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Customers aged 50+ show significantly higher churn propensity</a:t>
            </a:r>
          </a:p>
          <a:p>
            <a:pPr lvl="1"/>
            <a:r>
              <a:t>Germany exhibits the highest churn rate compared to other regions</a:t>
            </a:r>
          </a:p>
          <a:p>
            <a:pPr lvl="1"/>
            <a:r>
              <a:t>Female customers churn at a higher rate than male customers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 2 – Products &amp; Engagement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Customers with 3–4 products churn more than those with 1–2 products</a:t>
            </a:r>
          </a:p>
          <a:p>
            <a:pPr lvl="1"/>
            <a:r>
              <a:t>Inactive members are significantly more likely to exit</a:t>
            </a:r>
          </a:p>
          <a:p>
            <a:pPr lvl="1"/>
            <a:r>
              <a:t>Diamond cardholders show the highest churn rate among card types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 3 – Financial Indicators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High-balance customers are more likely to churn than low-balance customers</a:t>
            </a:r>
          </a:p>
          <a:p>
            <a:pPr lvl="1"/>
            <a:r>
              <a:t>Lower credit scores correlate with higher churn risk</a:t>
            </a:r>
          </a:p>
          <a:p>
            <a:pPr lvl="1"/>
            <a:r>
              <a:t>Tenure reduces churn slightly, but risk persists across all years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Deploy targeted retention programs for high-balance and senior customers</a:t>
            </a:r>
          </a:p>
          <a:p>
            <a:pPr lvl="1"/>
            <a:r>
              <a:t>Redesign Diamond card benefits to improve perceived value</a:t>
            </a:r>
          </a:p>
          <a:p>
            <a:pPr lvl="1"/>
            <a:r>
              <a:t>Introduce engagement incentives for inactive members</a:t>
            </a:r>
          </a:p>
          <a:p>
            <a:pPr lvl="1"/>
            <a:r>
              <a:t>Launch region-specific interventions for Germany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3–5% reduction in annual churn rate</a:t>
            </a:r>
          </a:p>
          <a:p>
            <a:pPr lvl="1"/>
            <a:r>
              <a:t>Increased customer lifetime value through improved retention</a:t>
            </a:r>
          </a:p>
          <a:p>
            <a:pPr lvl="1"/>
            <a:r>
              <a:t>Improved marketing ROI via targeted interventions</a:t>
            </a:r>
          </a:p>
          <a:p>
            <a:pPr lvl="1"/>
            <a:r>
              <a:t>Stronger customer satisfaction and loyalty metrics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KPI – Overall Churn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Tracks percentage of customers exiting the bank</a:t>
            </a:r>
          </a:p>
          <a:p>
            <a:pPr lvl="1"/>
            <a:r>
              <a:t>Primary indicator of retention performance</a:t>
            </a:r>
          </a:p>
          <a:p>
            <a:pPr lvl="1"/>
            <a:r>
              <a:t>Used to measure success of churn reduction initiatives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KPI – Churn by Geography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Highlights regional risk concentrations</a:t>
            </a:r>
          </a:p>
          <a:p>
            <a:pPr lvl="1"/>
            <a:r>
              <a:t>Supports location-specific retention strategies</a:t>
            </a:r>
          </a:p>
          <a:p>
            <a:pPr lvl="1"/>
            <a:r>
              <a:t>Germany identified as highest-risk region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KPI – Product Holding vs Churn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Measures churn across product ownership levels</a:t>
            </a:r>
          </a:p>
          <a:p>
            <a:pPr lvl="1"/>
            <a:r>
              <a:t>Identifies complexity and service friction risks</a:t>
            </a:r>
          </a:p>
          <a:p>
            <a:pPr lvl="1"/>
            <a:r>
              <a:t>Supports product simplification and bundling strategies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